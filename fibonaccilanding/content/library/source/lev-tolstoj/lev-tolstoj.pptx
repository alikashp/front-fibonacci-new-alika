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5F784D-B5F1-4185-B7D9-AD4ACBE4125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43DEB-9FB7-4DF9-B27B-6FC41C6147C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0B530D-016F-4C46-A57D-9D918EBABE3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C0B19-BD74-4756-B265-C4AF1EFAB08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C45DC5-8BCA-4831-81CE-45206561D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DDC89F-2118-445D-AB4E-4D2DCB6009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37D2FB-44E3-453E-AA80-62E79FB9A3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025734-52B2-4AEC-BF45-AFFECED1E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0B69C0-2240-41B4-9709-A007E084BD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12D69-A112-4C31-955E-0981A2713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781B7-46AD-4A09-98E8-35B8DE490F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32CA0-9EDF-4741-A1B5-7AD217804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67B81-237B-4EDC-A2A9-9CFDC23DA9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B5D08-0E17-48C9-B6E9-3167F02D57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6DD0F2-65D1-4394-AFDE-B17CDB6A31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C8CC8C-A16F-4BCF-9713-BA763141C1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4D30DE-1C3E-4D7E-BEFF-B356C1E5393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5900" b="1" i="0">
                <a:solidFill>
                  <a:srgbClr val="FFFA00"/>
                </a:solidFill>
                <a:latin typeface="Arial Black"/>
              </a:rPr>
              <a:t>Лев Николаевич Толстой: жизнь и творчество</a:t>
            </a:r>
            <a:endParaRPr b="1" lang="en-US" sz="5900" spc="-1" strike="noStrike" i="0">
              <a:latin typeface="Arial Black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Ранние годы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Родился в 1828 году в семье дворян в Ясной Поляне.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Образование и юность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Учился в Казанском университете, начал писать с ранних лет.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Семейная жизнь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Женился на Софье Андреевне в 1862 году и имел 13 детей.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Жизнь Льва Толстого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6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Ранние произведения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1850-х годах написал рассказы и романы, такие как "Детство" и "Юность".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Великие романы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1870-х создал "Войну и мир" и "Анну Каренину".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Последние годы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1890-х он сосредоточился на философских и религиозных трудностях.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Основные этапы творчества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Крестьянский образ жизни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1870-х начал проповедовать простоту и духовное развитие.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Вера и мораль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1880-х создал "Исповедь" и "Царство Божие внутри вас".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Влияние на духовность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Его идеи сыграли важную роль в русском религиозном движении.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Философия и религиозные взгляды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1028880"/>
            <a:ext cx="3002040" cy="3563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Образование и просвещение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Основал школу для крестьян в Ясной Поляне в 1870-х.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Взаимоотношения с властью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Его критика социальной несправедливости вызвала конфликт с властями.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Влияние на общество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Его идеи о мире и ненасилии вдохновили движение за ненасилие.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Общественная деятельность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Разногласия с семьёй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1880-х возникли разногласия с женой по поводу религии и образа жизни.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Внутренний кризис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1890-х переживал духовный кризис и сомнения в своих учениях.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Отказ от богатства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конце жизни отказался от имущества и жизни в богатстве.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Конфликты и внутренние переживания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Моральный и духовный поиск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1900-х продолжал искать истину и писать духовные сочинения.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Конфликт с церковью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1901 году его отлучили от Русской Православной Церкви.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Смерть и наследие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Умер в 1910 году, оставив богатое литературное и духовное наследие.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Последние годы и смерть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24" name="Picture 1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5480"/>
            <a:ext cx="9142920" cy="24944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400" cy="462456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6" name="TextBox 10"/>
          <p:cNvSpPr/>
          <p:nvPr/>
        </p:nvSpPr>
        <p:spPr>
          <a:xfrm>
            <a:off x="581760" y="82872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Новаторство в стиле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32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Ввел реализм и психологизм в русскую литературу.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Влияние на писателей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32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Повлиял на Достоевского, Чехова и многих других.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Вечное наследие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32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Его произведения остаются классикой мировой литературы.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08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Влияние Толстого на литературу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34" name="Picture 1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0" y="250200"/>
            <a:ext cx="3819960" cy="46245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5" name="Shape 3"/>
          <p:cNvSpPr/>
          <p:nvPr/>
        </p:nvSpPr>
        <p:spPr>
          <a:xfrm>
            <a:off x="344088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6" name="Shape 3"/>
          <p:cNvSpPr/>
          <p:nvPr/>
        </p:nvSpPr>
        <p:spPr>
          <a:xfrm>
            <a:off x="64029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7" name="TextBox 11"/>
          <p:cNvSpPr/>
          <p:nvPr/>
        </p:nvSpPr>
        <p:spPr>
          <a:xfrm>
            <a:off x="4791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Вдохновитель движений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Вдохновил движения за ненасилие и духовное развитие.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Международное признание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Его идеи ценятся во всем мире, в том числе за границей.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Современное значение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5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Толстой остаётся символом поиска духовной истины и гуманизма.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Наследие и современность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49" name="Picture 14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8800"/>
            <a:ext cx="9142920" cy="2327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50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2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53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1" i="0">
                <a:solidFill>
                  <a:srgbClr val="FFFA00"/>
                </a:solidFill>
                <a:latin typeface="Arial Black"/>
              </a:rPr>
              <a:t>Спасибо за внимание!</a:t>
            </a:r>
            <a:endParaRPr b="1" lang="en-US" sz="6600" spc="-1" strike="noStrike" i="0">
              <a:latin typeface="Arial Black"/>
            </a:endParaRPr>
          </a:p>
        </p:txBody>
      </p:sp>
      <p:pic>
        <p:nvPicPr>
          <p:cNvPr id="154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2025-09-17T11:46:22Z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