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k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r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9B39D15-62CA-4380-BDF4-A58E581E9AA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5A79EB-D5EA-447C-9387-A858A32D7FA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FD3FF5-14E2-47A4-9725-ED22F267760E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A5A7EB-85E0-4D92-AE83-1E92A9F9E995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895592-6506-4376-B815-7343E71BF1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7BCFF5-FE70-4F55-9DA5-F757A8E6A6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2C1D65-E464-4939-9CC2-6424AA7E9E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9A6195-B6EB-4027-BBC9-B6729B4E95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74CEF1-0839-4A12-B313-004C1C7505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6398A0-FA03-4CAD-96A7-7753F33475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39608D-34FB-42E2-810E-20078C0D75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D1E92D-EDFD-4E38-8180-B1F7C20FE1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B0BEE4-45F5-4E45-A353-FD56479DE4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F9AFB7-3726-4C7A-88E3-9751D303FC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E0DBB2-48B6-41E8-B3F4-DBC066D6A1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4DDA7B-4736-459A-8799-AB881E6299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б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р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а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з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е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ц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з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а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г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л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в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к</a:t>
            </a: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318B05-98B8-4113-BD2D-8BBD567C998B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9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5"/>
          <p:cNvSpPr/>
          <p:nvPr/>
        </p:nvSpPr>
        <p:spPr>
          <a:xfrm>
            <a:off x="460080" y="466704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8" name="Рисунок 5" descr=""/>
          <p:cNvPicPr/>
          <p:nvPr/>
        </p:nvPicPr>
        <p:blipFill>
          <a:blip r:embed="rId2"/>
          <a:stretch/>
        </p:blipFill>
        <p:spPr>
          <a:xfrm>
            <a:off x="2423160" y="466776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49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6600" b="0" i="0">
                <a:solidFill>
                  <a:srgbClr val="FFFFFF"/>
                </a:solidFill>
                <a:latin typeface="Arial"/>
              </a:rPr>
              <a:t>Космос и освоение космоса человеком</a:t>
            </a:r>
            <a:endParaRPr b="0" lang="en-US" sz="6600" spc="-1" strike="noStrike" i="0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51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52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53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54" name="Shape 3"/>
          <p:cNvSpPr/>
          <p:nvPr/>
        </p:nvSpPr>
        <p:spPr>
          <a:xfrm>
            <a:off x="492840" y="159372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55" name="TextBox 17"/>
          <p:cNvSpPr/>
          <p:nvPr/>
        </p:nvSpPr>
        <p:spPr>
          <a:xfrm>
            <a:off x="492840" y="160272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1495800" y="12711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Первые запуски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492840" y="27748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59" name="TextBox 19"/>
          <p:cNvSpPr/>
          <p:nvPr/>
        </p:nvSpPr>
        <p:spPr>
          <a:xfrm>
            <a:off x="492840" y="27838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492840" y="396000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61" name="TextBox 22"/>
          <p:cNvSpPr/>
          <p:nvPr/>
        </p:nvSpPr>
        <p:spPr>
          <a:xfrm>
            <a:off x="492840" y="3969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495800" y="18370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Первый искусственный спутник "Спутник-1" запущен СССР 4 октября 1957 года.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492200" y="24537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Лунные миссии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1492200" y="3017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Апполон 11 высаживается на Луну 20 июля 1969 года, астронавты Нил Армстронг и Buzz Aldrin.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1492200" y="36478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Современные достижения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1492200" y="42112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Космический телескоп "Хаббл" запущен в 1990 году и продолжает исследования Вселенной.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49200" y="264600"/>
            <a:ext cx="51372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wrap="square">
            <a:noAutofit/>
          </a:bodyPr>
          <a:p>
            <a:r>
              <a:rPr sz="2200" b="0" i="0">
                <a:solidFill>
                  <a:srgbClr val="354259"/>
                </a:solidFill>
                <a:latin typeface="Arial"/>
              </a:rPr>
              <a:t>История освоения космоса</a:t>
            </a:r>
            <a:endParaRPr b="0" lang="en-US" sz="2200" spc="-1" strike="noStrike" i="0">
              <a:solidFill>
                <a:srgbClr val="354259"/>
              </a:solidFill>
              <a:latin typeface="Arial"/>
            </a:endParaRPr>
          </a:p>
        </p:txBody>
      </p:sp>
      <p:pic>
        <p:nvPicPr>
          <p:cNvPr id="68" name="Picture 6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200" y="0"/>
            <a:ext cx="3259440" cy="51433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Ракета Falcon 9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Компания SpaceX начала коммерческие запуски в 2010 году, снизив стоимость космических полетов.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Многоразовые системы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Первый многоразовый запуск Falcon 9 состоялся в 2015 году, что революционизировало космическую индустрию.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093720" y="25502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Технологии будущего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6093720" y="33350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Разрабатываются сверхтяжелые ракеты и системы для межпланетных полетов к 2030-м годам.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36600" y="2214000"/>
            <a:ext cx="8530200" cy="5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wrap="square">
            <a:noAutofit/>
          </a:bodyPr>
          <a:p>
            <a:r>
              <a:rPr sz="2100" b="0" i="0">
                <a:solidFill>
                  <a:srgbClr val="354259"/>
                </a:solidFill>
                <a:latin typeface="Arial"/>
              </a:rPr>
              <a:t>Современные ракеты и технологии</a:t>
            </a:r>
            <a:endParaRPr b="0" lang="en-US" sz="2100" spc="-1" strike="noStrike" i="0">
              <a:solidFill>
                <a:srgbClr val="354259"/>
              </a:solidFill>
              <a:latin typeface="Arial"/>
            </a:endParaRPr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640" cy="19616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0"/>
          <p:cNvSpPr/>
          <p:nvPr/>
        </p:nvSpPr>
        <p:spPr>
          <a:xfrm>
            <a:off x="4607640" y="10216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Международная космическая станция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4607640" y="158760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МКС начала строительства в 1998 году, объединяет 15 стран для совместных исследований.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9" name="Стрелка: шеврон 1"/>
          <p:cNvSpPr/>
          <p:nvPr/>
        </p:nvSpPr>
        <p:spPr>
          <a:xfrm rot="5400000">
            <a:off x="3686040" y="129924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80" name="TextBox 31"/>
          <p:cNvSpPr/>
          <p:nvPr/>
        </p:nvSpPr>
        <p:spPr>
          <a:xfrm>
            <a:off x="3919320" y="1476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4607640" y="23356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Совместные миссии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4607640" y="2909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В 2022 году состоялась первая совместная миссия России и США на МКС за последние годы.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3" name="Стрелка: шеврон 37"/>
          <p:cNvSpPr/>
          <p:nvPr/>
        </p:nvSpPr>
        <p:spPr>
          <a:xfrm rot="5400000">
            <a:off x="3686040" y="261360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84" name="TextBox 38"/>
          <p:cNvSpPr/>
          <p:nvPr/>
        </p:nvSpPr>
        <p:spPr>
          <a:xfrm>
            <a:off x="3919320" y="279036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4607640" y="365724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Европейское участие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4607640" y="42303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Европейское космическое агентство активно сотрудничает с NASA и Роскосмосом.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7" name="Стрелка: шеврон 41"/>
          <p:cNvSpPr/>
          <p:nvPr/>
        </p:nvSpPr>
        <p:spPr>
          <a:xfrm rot="5400000">
            <a:off x="3686040" y="393480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88" name="TextBox 42"/>
          <p:cNvSpPr/>
          <p:nvPr/>
        </p:nvSpPr>
        <p:spPr>
          <a:xfrm>
            <a:off x="3919320" y="411156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634200" y="228600"/>
            <a:ext cx="5052600" cy="79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wrap="square">
            <a:noAutofit/>
          </a:bodyPr>
          <a:p>
            <a:r>
              <a:rPr sz="2100" b="0" i="0">
                <a:solidFill>
                  <a:srgbClr val="354259"/>
                </a:solidFill>
                <a:latin typeface="Arial"/>
              </a:rPr>
              <a:t>Международное сотрудничество в космосе</a:t>
            </a:r>
            <a:endParaRPr b="0" lang="en-US" sz="2100" spc="-1" strike="noStrike" i="0">
              <a:solidFill>
                <a:srgbClr val="354259"/>
              </a:solidFill>
              <a:latin typeface="Arial"/>
            </a:endParaRPr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96960" cy="51433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2"/>
          <p:cNvSpPr/>
          <p:nvPr/>
        </p:nvSpPr>
        <p:spPr>
          <a:xfrm>
            <a:off x="384840" y="1081440"/>
            <a:ext cx="5043960" cy="12193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92" name="Shape 5"/>
          <p:cNvSpPr/>
          <p:nvPr/>
        </p:nvSpPr>
        <p:spPr>
          <a:xfrm>
            <a:off x="384840" y="2301120"/>
            <a:ext cx="5043960" cy="12193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93" name="Shape 2"/>
          <p:cNvSpPr/>
          <p:nvPr/>
        </p:nvSpPr>
        <p:spPr>
          <a:xfrm>
            <a:off x="384840" y="3520800"/>
            <a:ext cx="5043960" cy="12193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94" name="TextBox 10"/>
          <p:cNvSpPr/>
          <p:nvPr/>
        </p:nvSpPr>
        <p:spPr>
          <a:xfrm>
            <a:off x="543240" y="112068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Изучение Марса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43240" y="168696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Миссии "Персеверанс" NASA высаживаются на Марс в 2021 году для поиска признаков жизни.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43240" y="234036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Исследование Юпитера и Сатурна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43240" y="290664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Миссии "Джуна" и "Кассиопея" исследуют газовые гиганты и их спутники.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543240" y="356004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Планы на будущее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543240" y="412632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Планируются миссии по исследованию астероидов и подготовке к пилотируемым полетам к 2030-м годам.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64600" y="228600"/>
            <a:ext cx="5486400" cy="85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wrap="square">
            <a:noAutofit/>
          </a:bodyPr>
          <a:p>
            <a:r>
              <a:rPr sz="2100" b="0" i="0">
                <a:solidFill>
                  <a:srgbClr val="354259"/>
                </a:solidFill>
                <a:latin typeface="Arial"/>
              </a:rPr>
              <a:t>Планеты и исследование Солнечной системы</a:t>
            </a:r>
            <a:endParaRPr b="0" lang="en-US" sz="2100" spc="-1" strike="noStrike" i="0">
              <a:solidFill>
                <a:srgbClr val="354259"/>
              </a:solidFill>
              <a:latin typeface="Arial"/>
            </a:endParaRPr>
          </a:p>
        </p:txBody>
      </p:sp>
      <p:pic>
        <p:nvPicPr>
          <p:cNvPr id="101" name="Picture 10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200" y="0"/>
            <a:ext cx="3259440" cy="51433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Овал 8"/>
          <p:cNvSpPr/>
          <p:nvPr/>
        </p:nvSpPr>
        <p:spPr>
          <a:xfrm>
            <a:off x="-378720" y="-190800"/>
            <a:ext cx="3816720" cy="5524920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grpSp>
        <p:nvGrpSpPr>
          <p:cNvPr id="103" name="Группа 3"/>
          <p:cNvGrpSpPr/>
          <p:nvPr/>
        </p:nvGrpSpPr>
        <p:grpSpPr>
          <a:xfrm>
            <a:off x="3198240" y="2573280"/>
            <a:ext cx="480240" cy="473040"/>
            <a:chOff x="3198240" y="2573280"/>
            <a:chExt cx="480240" cy="473040"/>
          </a:xfrm>
        </p:grpSpPr>
        <p:sp>
          <p:nvSpPr>
            <p:cNvPr id="104" name="Shape 3"/>
            <p:cNvSpPr/>
            <p:nvPr/>
          </p:nvSpPr>
          <p:spPr>
            <a:xfrm>
              <a:off x="3198240" y="257328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TextBox 13"/>
            <p:cNvSpPr/>
            <p:nvPr/>
          </p:nvSpPr>
          <p:spPr>
            <a:xfrm>
              <a:off x="3198240" y="262620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2</a:t>
              </a:r>
              <a:endParaRPr b="0" lang="en-US" sz="1800" spc="-1" strike="noStrike">
                <a:latin typeface="Arial"/>
              </a:endParaRPr>
            </a:p>
          </p:txBody>
        </p:sp>
      </p:grpSp>
      <p:grpSp>
        <p:nvGrpSpPr>
          <p:cNvPr id="106" name="Группа 14"/>
          <p:cNvGrpSpPr/>
          <p:nvPr/>
        </p:nvGrpSpPr>
        <p:grpSpPr>
          <a:xfrm>
            <a:off x="3018960" y="1193400"/>
            <a:ext cx="480240" cy="473040"/>
            <a:chOff x="3018960" y="1193400"/>
            <a:chExt cx="480240" cy="473040"/>
          </a:xfrm>
        </p:grpSpPr>
        <p:sp>
          <p:nvSpPr>
            <p:cNvPr id="107" name="Shape 3"/>
            <p:cNvSpPr/>
            <p:nvPr/>
          </p:nvSpPr>
          <p:spPr>
            <a:xfrm>
              <a:off x="3018960" y="119340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TextBox 16"/>
            <p:cNvSpPr/>
            <p:nvPr/>
          </p:nvSpPr>
          <p:spPr>
            <a:xfrm>
              <a:off x="3018960" y="124668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1</a:t>
              </a:r>
              <a:endParaRPr b="0" lang="en-US" sz="1800" spc="-1" strike="noStrike">
                <a:latin typeface="Arial"/>
              </a:endParaRPr>
            </a:p>
          </p:txBody>
        </p:sp>
      </p:grpSp>
      <p:grpSp>
        <p:nvGrpSpPr>
          <p:cNvPr id="109" name="Группа 17"/>
          <p:cNvGrpSpPr/>
          <p:nvPr/>
        </p:nvGrpSpPr>
        <p:grpSpPr>
          <a:xfrm>
            <a:off x="2850480" y="3906000"/>
            <a:ext cx="480240" cy="473040"/>
            <a:chOff x="2850480" y="3906000"/>
            <a:chExt cx="480240" cy="473040"/>
          </a:xfrm>
        </p:grpSpPr>
        <p:sp>
          <p:nvSpPr>
            <p:cNvPr id="110" name="Shape 3"/>
            <p:cNvSpPr/>
            <p:nvPr/>
          </p:nvSpPr>
          <p:spPr>
            <a:xfrm>
              <a:off x="2850480" y="390600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TextBox 19"/>
            <p:cNvSpPr/>
            <p:nvPr/>
          </p:nvSpPr>
          <p:spPr>
            <a:xfrm>
              <a:off x="2850480" y="395892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3</a:t>
              </a:r>
              <a:endParaRPr b="0" lang="en-US" sz="1800" spc="-1" strike="noStrike">
                <a:latin typeface="Arial"/>
              </a:endParaRPr>
            </a:p>
          </p:txBody>
        </p:sp>
      </p:grpSp>
      <p:sp>
        <p:nvSpPr>
          <p:cNvPr id="112" name="TextBox 10"/>
          <p:cNvSpPr/>
          <p:nvPr/>
        </p:nvSpPr>
        <p:spPr>
          <a:xfrm>
            <a:off x="3569760" y="885960"/>
            <a:ext cx="50439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Ракетная безопасность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569760" y="1452240"/>
            <a:ext cx="5043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Обеспечение безопасных запусков и предотвращение аварий с 2010-х годов.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870720" y="2260800"/>
            <a:ext cx="4743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Долгосрочные миссии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3870720" y="2827080"/>
            <a:ext cx="474300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Разработка технологий для длительного пребывания человека в космосе с 2020 года.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569760" y="3599280"/>
            <a:ext cx="50439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Экологические проблемы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7" name="TextBox 10"/>
          <p:cNvSpPr/>
          <p:nvPr/>
        </p:nvSpPr>
        <p:spPr>
          <a:xfrm>
            <a:off x="3569760" y="4165560"/>
            <a:ext cx="5043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Управление космическим мусором и загрязнением космоса — важные задачи с 2020-го.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549600" y="228600"/>
            <a:ext cx="51372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wrap="square">
            <a:noAutofit/>
          </a:bodyPr>
          <a:p>
            <a:r>
              <a:rPr sz="2100" b="0" i="0">
                <a:solidFill>
                  <a:srgbClr val="354259"/>
                </a:solidFill>
                <a:latin typeface="Arial"/>
              </a:rPr>
              <a:t>Проблемы и вызовы освоения космоса</a:t>
            </a:r>
            <a:endParaRPr b="0" lang="en-US" sz="2100" spc="-1" strike="noStrike" i="0">
              <a:solidFill>
                <a:srgbClr val="35425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20"/>
          <p:cNvSpPr/>
          <p:nvPr/>
        </p:nvSpPr>
        <p:spPr>
          <a:xfrm>
            <a:off x="384840" y="407520"/>
            <a:ext cx="846576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200" b="0" i="0">
                <a:solidFill>
                  <a:srgbClr val="354259"/>
                </a:solidFill>
                <a:latin typeface="Arial"/>
              </a:rPr>
              <a:t>Будущее освоения космоса</a:t>
            </a:r>
            <a:endParaRPr b="0" lang="en-US" sz="2200" spc="-1" strike="noStrike" i="0"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384840" y="163800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Луна как база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384840" y="24224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Планы по созданию лунных баз к 2030 году для исследований и добычи ресурсов.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3239280" y="163800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Межпланетные полеты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3239280" y="24224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Разработка межпланетных кораблей для полетов к Марсу и дальше, намеченные на 2030–2040 годы.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6093720" y="161640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Колонизация планет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6093720" y="240120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Обсуждаются проекты по созданию постоянных поселений на Луне и Марсе.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6" name="Стрелка: вниз 2"/>
          <p:cNvSpPr/>
          <p:nvPr/>
        </p:nvSpPr>
        <p:spPr>
          <a:xfrm rot="16200000">
            <a:off x="4255560" y="194400"/>
            <a:ext cx="617040" cy="8152920"/>
          </a:xfrm>
          <a:prstGeom prst="downArrow">
            <a:avLst>
              <a:gd name="adj1" fmla="val 30247"/>
              <a:gd name="adj2" fmla="val 80864"/>
            </a:avLst>
          </a:prstGeom>
          <a:solidFill>
            <a:srgbClr val="205279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0"/>
          <p:cNvSpPr/>
          <p:nvPr/>
        </p:nvSpPr>
        <p:spPr>
          <a:xfrm>
            <a:off x="3699720" y="1130400"/>
            <a:ext cx="25333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Коммерческие запуски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3699720" y="1914840"/>
            <a:ext cx="253332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SpaceX, Blue Origin и другие начали активно запускать спутники и туристические миссии с 2010-х годов.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6403320" y="1130400"/>
            <a:ext cx="25333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Космический туризм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6403320" y="1914840"/>
            <a:ext cx="253332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Первый турист на орбите — Джаред Иттинг в 2021 году на корабле "Crew Dragon".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3699720" y="3383280"/>
            <a:ext cx="523656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Добыча ресурсов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3699720" y="3735000"/>
            <a:ext cx="51469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Обсуждается перспектива добычи полезных ископаемых на астероидах к 2040 году.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657600" y="228600"/>
            <a:ext cx="50292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wrap="square">
            <a:noAutofit/>
          </a:bodyPr>
          <a:p>
            <a:r>
              <a:rPr sz="2100" b="0" i="0">
                <a:solidFill>
                  <a:srgbClr val="354259"/>
                </a:solidFill>
                <a:latin typeface="Arial"/>
              </a:rPr>
              <a:t>Роль частных компаний в космосе</a:t>
            </a:r>
            <a:endParaRPr b="0" lang="en-US" sz="2100" spc="-1" strike="noStrike" i="0">
              <a:latin typeface="Arial"/>
            </a:endParaRPr>
          </a:p>
        </p:txBody>
      </p:sp>
      <p:pic>
        <p:nvPicPr>
          <p:cNvPr id="135" name="Picture 13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96960" cy="51433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0"/>
          <p:cNvSpPr/>
          <p:nvPr/>
        </p:nvSpPr>
        <p:spPr>
          <a:xfrm>
            <a:off x="858960" y="2571840"/>
            <a:ext cx="23551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Технологические инновации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858960" y="3356280"/>
            <a:ext cx="235512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Развитие новых технологий для медицины, экологии и связи благодаря космическим исследованиям с 2000-х годов.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479160" y="28864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8" name="TextBox 11"/>
          <p:cNvSpPr/>
          <p:nvPr/>
        </p:nvSpPr>
        <p:spPr>
          <a:xfrm>
            <a:off x="479160" y="28954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TextBox 10"/>
          <p:cNvSpPr/>
          <p:nvPr/>
        </p:nvSpPr>
        <p:spPr>
          <a:xfrm>
            <a:off x="3821040" y="2571840"/>
            <a:ext cx="23551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Образование и популяризация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3821040" y="3356280"/>
            <a:ext cx="235512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Космические программы вдохновляют миллионы детей и молодежь с 1960-х годов.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3440880" y="28864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42" name="TextBox 15"/>
          <p:cNvSpPr/>
          <p:nvPr/>
        </p:nvSpPr>
        <p:spPr>
          <a:xfrm>
            <a:off x="3440880" y="28954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6782760" y="2571840"/>
            <a:ext cx="2294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7D85A3"/>
                </a:solidFill>
                <a:latin typeface="Arial"/>
              </a:rPr>
              <a:t>Экономический эффект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6782760" y="3356280"/>
            <a:ext cx="22942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54259"/>
                </a:solidFill>
                <a:latin typeface="Arial"/>
              </a:rPr>
              <a:t>Развитие космической индустрии создает рабочие места и стимулирует экономику.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6402960" y="28864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46" name="TextBox 19"/>
          <p:cNvSpPr/>
          <p:nvPr/>
        </p:nvSpPr>
        <p:spPr>
          <a:xfrm>
            <a:off x="6402960" y="28954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36600" y="2133000"/>
            <a:ext cx="8578800" cy="57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wrap="square">
            <a:noAutofit/>
          </a:bodyPr>
          <a:p>
            <a:r>
              <a:rPr sz="2100" b="0" i="0">
                <a:solidFill>
                  <a:srgbClr val="354259"/>
                </a:solidFill>
                <a:latin typeface="Arial"/>
              </a:rPr>
              <a:t>Влияние освоения космоса на Землю</a:t>
            </a:r>
            <a:endParaRPr b="0" lang="en-US" sz="2100" spc="-1" strike="noStrike" i="0">
              <a:solidFill>
                <a:srgbClr val="354259"/>
              </a:solidFill>
              <a:latin typeface="Arial"/>
            </a:endParaRPr>
          </a:p>
        </p:txBody>
      </p:sp>
      <p:pic>
        <p:nvPicPr>
          <p:cNvPr id="149" name="Picture 14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640" cy="19616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Прямоугольник 5"/>
          <p:cNvSpPr/>
          <p:nvPr/>
        </p:nvSpPr>
        <p:spPr>
          <a:xfrm>
            <a:off x="1640880" y="458892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0" name="Изображение 40"/>
          <p:cNvSpPr/>
          <p:nvPr/>
        </p:nvSpPr>
        <p:spPr>
          <a:xfrm>
            <a:off x="867240" y="3587040"/>
            <a:ext cx="257040" cy="25704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pic>
        <p:nvPicPr>
          <p:cNvPr id="151" name="Рисунок 5" descr=""/>
          <p:cNvPicPr/>
          <p:nvPr/>
        </p:nvPicPr>
        <p:blipFill>
          <a:blip r:embed="rId3"/>
          <a:srcRect l="0" t="30398" r="0" b="28998"/>
          <a:stretch/>
        </p:blipFill>
        <p:spPr>
          <a:xfrm>
            <a:off x="351000" y="3790440"/>
            <a:ext cx="1289520" cy="1133640"/>
          </a:xfrm>
          <a:prstGeom prst="rect">
            <a:avLst/>
          </a:prstGeom>
          <a:ln w="0">
            <a:noFill/>
          </a:ln>
        </p:spPr>
      </p:pic>
      <p:sp>
        <p:nvSpPr>
          <p:cNvPr id="152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6600" b="0" i="0">
                <a:solidFill>
                  <a:srgbClr val="FFFFFF"/>
                </a:solidFill>
                <a:latin typeface="Arial"/>
              </a:rPr>
              <a:t>Спасибо за внимание!</a:t>
            </a:r>
            <a:endParaRPr b="0" lang="en-US" sz="6600" spc="-1" strike="noStrike" i="0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1807</TotalTime>
  <Application>LibreOffice/7.3.7.2$Linux_X86_64 LibreOffice_project/30$Build-2</Application>
  <AppVersion>15.0000</AppVersion>
  <Words>115</Words>
  <Paragraphs>82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2024-09-30T23:18:57Z</dcterms:modified>
  <cp:revision>33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10</vt:i4>
  </property>
</Properties>
</file>