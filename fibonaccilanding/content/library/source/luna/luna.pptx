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35F784D-B5F1-4185-B7D9-AD4ACBE4125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1143DEB-9FB7-4DF9-B27B-6FC41C6147C9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40B530D-016F-4C46-A57D-9D918EBABE30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CFC0B19-BD74-4756-B265-C4AF1EFAB08B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C45DC5-8BCA-4831-81CE-45206561D6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DDC89F-2118-445D-AB4E-4D2DCB6009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37D2FB-44E3-453E-AA80-62E79FB9A3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025734-52B2-4AEC-BF45-AFFECED1E5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0B69C0-2240-41B4-9709-A007E084BD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6920" cy="829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912D69-A112-4C31-955E-0981A27138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C781B7-46AD-4A09-98E8-35B8DE490F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532CA0-9EDF-4741-A1B5-7AD217804E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967B81-237B-4EDC-A2A9-9CFDC23DA9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3B5D08-0E17-48C9-B6E9-3167F02D57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6DD0F2-65D1-4394-AFDE-B17CDB6A31B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C8CC8C-A16F-4BCF-9713-BA763141C11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44D30DE-1C3E-4D7E-BEFF-B356C1E5393A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48" name="Прямоугольник 5"/>
          <p:cNvSpPr/>
          <p:nvPr/>
        </p:nvSpPr>
        <p:spPr>
          <a:xfrm>
            <a:off x="460080" y="4445640"/>
            <a:ext cx="2998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49" name="Рисунок 5" descr=""/>
          <p:cNvPicPr/>
          <p:nvPr/>
        </p:nvPicPr>
        <p:blipFill>
          <a:blip r:embed="rId1"/>
          <a:stretch/>
        </p:blipFill>
        <p:spPr>
          <a:xfrm>
            <a:off x="2423160" y="4446360"/>
            <a:ext cx="290520" cy="290520"/>
          </a:xfrm>
          <a:prstGeom prst="rect">
            <a:avLst/>
          </a:prstGeom>
          <a:ln w="0">
            <a:noFill/>
          </a:ln>
        </p:spPr>
      </p:pic>
      <p:sp>
        <p:nvSpPr>
          <p:cNvPr id="50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>
              <a:lnSpc>
                <a:spcPts val="6999"/>
              </a:lnSpc>
              <a:buNone/>
            </a:pPr>
            <a:r>
              <a:rPr sz="6600" b="1" i="0">
                <a:solidFill>
                  <a:srgbClr val="FFFA00"/>
                </a:solidFill>
                <a:latin typeface="Arial Black"/>
              </a:rPr>
              <a:t>Луна — спутник Земли</a:t>
            </a:r>
            <a:endParaRPr b="1" lang="en-US" sz="6600" spc="-1" strike="noStrike" i="0">
              <a:latin typeface="Arial Black"/>
            </a:endParaRPr>
          </a:p>
        </p:txBody>
      </p:sp>
      <p:pic>
        <p:nvPicPr>
          <p:cNvPr id="51" name="Рисунок 3" descr=""/>
          <p:cNvPicPr/>
          <p:nvPr/>
        </p:nvPicPr>
        <p:blipFill>
          <a:blip r:embed="rId2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  <p:sp>
        <p:nvSpPr>
          <p:cNvPr id="53" name="Овал 1"/>
          <p:cNvSpPr/>
          <p:nvPr/>
        </p:nvSpPr>
        <p:spPr>
          <a:xfrm>
            <a:off x="18576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185760" y="238140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185760" y="38606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768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Общие сведения о Луне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768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Луна — единственный естественный спутник Земли, ее размер примерно в 4 раза меньше Земли, и она вращается вокруг нее за 27,3 дня.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22924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История изучения Луны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282528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000" b="0" i="0">
                <a:solidFill>
                  <a:srgbClr val="3E443E"/>
                </a:solidFill>
                <a:latin typeface="Arial"/>
              </a:rPr>
              <a:t>Первое подтвержденное наблюдение Луны человеком — в древности, а в 1969 году миссия Apollo 11 высадила на Луну первых астронавтов: Нила Армстронга и Buzz Aldrin.</a:t>
            </a:r>
            <a:endParaRPr b="0" lang="en-US" sz="1000" spc="-1" strike="noStrike" i="0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964080" y="37778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Современное исследование Луны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964080" y="431064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В 21 веке Луна стала объектом новых миссий, включая китайский Chang’e-4 и американский Artemis, планирующих возвращение человека на Луну.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3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21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Луна — естественный спутник Земли</a:t>
            </a:r>
            <a:endParaRPr b="1" lang="en-US" sz="2400" spc="-1" strike="noStrike" i="0">
              <a:latin typeface="Arial Black"/>
            </a:endParaRPr>
          </a:p>
        </p:txBody>
      </p:sp>
      <p:pic>
        <p:nvPicPr>
          <p:cNvPr id="65" name="Picture 6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640" y="987840"/>
            <a:ext cx="3687120" cy="349632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Прямоугольник: скругленные углы 20"/>
          <p:cNvSpPr/>
          <p:nvPr/>
        </p:nvSpPr>
        <p:spPr>
          <a:xfrm>
            <a:off x="506520" y="14846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66" name="TextBox 10"/>
          <p:cNvSpPr/>
          <p:nvPr/>
        </p:nvSpPr>
        <p:spPr>
          <a:xfrm>
            <a:off x="624240" y="16167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Внутреннее устройство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624240" y="24004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Луна состоит из коры, мантии и ядра, ее внутреннее строение изучено по данным с орбитальных аппаратов и лунных зондов.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68" name="Прямоугольник: скругленные углы 29"/>
          <p:cNvSpPr/>
          <p:nvPr/>
        </p:nvSpPr>
        <p:spPr>
          <a:xfrm>
            <a:off x="3309120" y="20660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69" name="TextBox 10"/>
          <p:cNvSpPr/>
          <p:nvPr/>
        </p:nvSpPr>
        <p:spPr>
          <a:xfrm>
            <a:off x="3426840" y="21981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Поверхность Луны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3426840" y="29818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На поверхности много кратеров, морей и горных хребтов, образованных миллионы лет назад в результате столкновений.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71" name="Прямоугольник: скругленные углы 36"/>
          <p:cNvSpPr/>
          <p:nvPr/>
        </p:nvSpPr>
        <p:spPr>
          <a:xfrm>
            <a:off x="6111720" y="265932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72" name="TextBox 10"/>
          <p:cNvSpPr/>
          <p:nvPr/>
        </p:nvSpPr>
        <p:spPr>
          <a:xfrm>
            <a:off x="6229440" y="279144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Особенности лунных пород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73" name="TextBox 10"/>
          <p:cNvSpPr/>
          <p:nvPr/>
        </p:nvSpPr>
        <p:spPr>
          <a:xfrm>
            <a:off x="6229440" y="357480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Самые распространённые породы — базальты и анортозиты, их возраст достигает до 4,5 миллиарда лет.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74" name="TextBox 39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57200" y="2286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Строение Луны</a:t>
            </a:r>
            <a:endParaRPr b="1" lang="en-US" sz="2400" spc="-1" strike="noStrike" i="0"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Прямоугольник: скругленные углы 12"/>
          <p:cNvSpPr/>
          <p:nvPr/>
        </p:nvSpPr>
        <p:spPr>
          <a:xfrm>
            <a:off x="3601800" y="3271680"/>
            <a:ext cx="5235840" cy="132048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77" name="Прямоугольник: скругленные углы 11"/>
          <p:cNvSpPr/>
          <p:nvPr/>
        </p:nvSpPr>
        <p:spPr>
          <a:xfrm>
            <a:off x="6308640" y="1028880"/>
            <a:ext cx="2532600" cy="205632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78" name="Прямоугольник: скругленные углы 2"/>
          <p:cNvSpPr/>
          <p:nvPr/>
        </p:nvSpPr>
        <p:spPr>
          <a:xfrm>
            <a:off x="3604320" y="1014480"/>
            <a:ext cx="2532600" cy="205632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79" name="TextBox 10"/>
          <p:cNvSpPr/>
          <p:nvPr/>
        </p:nvSpPr>
        <p:spPr>
          <a:xfrm>
            <a:off x="3696480" y="1059120"/>
            <a:ext cx="234288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Основные фазы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3696480" y="1843560"/>
            <a:ext cx="234288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Луна проходит через фазы новолуния, первой и третьей четвертей, полнолуния, которые повторяются каждые 29,5 дней.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6400080" y="1059120"/>
            <a:ext cx="233964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Историческое значение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6400080" y="1843560"/>
            <a:ext cx="233964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Фазы Луны использовались в древних календарях и навигации, а также влияют на приливы и отливы.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696480" y="3362040"/>
            <a:ext cx="5235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Современное использование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696480" y="3713400"/>
            <a:ext cx="51462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Современные астрономы и фермеры продолжают учитывать фазы Луны для планирования своих дел.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86" name="TextBox 15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13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Фазы Луны и их значение</a:t>
            </a:r>
            <a:endParaRPr b="1" lang="en-US" sz="2400" spc="-1" strike="noStrike" i="0">
              <a:latin typeface="Arial Black"/>
            </a:endParaRPr>
          </a:p>
        </p:txBody>
      </p:sp>
      <p:pic>
        <p:nvPicPr>
          <p:cNvPr id="88" name="Picture 8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40" y="1028880"/>
            <a:ext cx="3002040" cy="356364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Рисунок 15" descr=""/>
          <p:cNvPicPr/>
          <p:nvPr/>
        </p:nvPicPr>
        <p:blipFill>
          <a:blip r:embed="rId1"/>
          <a:stretch/>
        </p:blipFill>
        <p:spPr>
          <a:xfrm>
            <a:off x="-877680" y="2245320"/>
            <a:ext cx="4612680" cy="3604320"/>
          </a:xfrm>
          <a:prstGeom prst="rect">
            <a:avLst/>
          </a:prstGeom>
          <a:ln w="0">
            <a:noFill/>
          </a:ln>
        </p:spPr>
      </p:pic>
      <p:sp>
        <p:nvSpPr>
          <p:cNvPr id="89" name="Овал 1"/>
          <p:cNvSpPr/>
          <p:nvPr/>
        </p:nvSpPr>
        <p:spPr>
          <a:xfrm>
            <a:off x="4157640" y="631080"/>
            <a:ext cx="898920" cy="89892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Овал 23"/>
          <p:cNvSpPr/>
          <p:nvPr/>
        </p:nvSpPr>
        <p:spPr>
          <a:xfrm>
            <a:off x="4157640" y="2127600"/>
            <a:ext cx="898920" cy="88704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1" name="Овал 29"/>
          <p:cNvSpPr/>
          <p:nvPr/>
        </p:nvSpPr>
        <p:spPr>
          <a:xfrm>
            <a:off x="4157640" y="3612240"/>
            <a:ext cx="898920" cy="89892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5146560" y="4896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Гравитационная связь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146560" y="1025280"/>
            <a:ext cx="357840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Гравитационное притяжение Луны вызывает приливы и отливы в океанах Земли, что впервые объяснил Исаак Ньютон в 17 веке.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142960" y="19854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Тайм-лы и фиксация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142960" y="2517840"/>
            <a:ext cx="35784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Луна всегда обращена к Земле одной стороной, так как ее вращение синхронизировано с орбитой, что обнаружено в XIX веке.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5142960" y="347076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Долгосрочные эффекты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5142960" y="4003560"/>
            <a:ext cx="357840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Со временем Луна удаляется от Земли примерно на 3,8 см в год, что подтверждается спутниковыми измерениями.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98" name="TextBox 14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264600" y="228600"/>
            <a:ext cx="3656880" cy="20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Луна и Земля: взаимное влияние</a:t>
            </a:r>
            <a:endParaRPr b="1" lang="en-US" sz="2400" spc="-1" strike="noStrike" i="0"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Овал 1"/>
          <p:cNvSpPr/>
          <p:nvPr/>
        </p:nvSpPr>
        <p:spPr>
          <a:xfrm>
            <a:off x="423864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Овал 23"/>
          <p:cNvSpPr/>
          <p:nvPr/>
        </p:nvSpPr>
        <p:spPr>
          <a:xfrm>
            <a:off x="4238640" y="224388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2" name="Овал 29"/>
          <p:cNvSpPr/>
          <p:nvPr/>
        </p:nvSpPr>
        <p:spPr>
          <a:xfrm>
            <a:off x="4238640" y="366732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502020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Первые полеты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502020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Первый человек, Нил Армстронг, высадился на Луне в рамках программы Apollo 11 20 июля 1969 года.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5016600" y="215532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Современные проекты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5016600" y="268776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Проекты Artemis и Chang’e планируют возвращение человека и автоматические станции на Луну в 2020-2024 годах.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5016600" y="35848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Значение миссий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5016600" y="411732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Миссии позволяют изучать геологию Луны и разрабатывать технологии для будущих космических путешествий.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00600" y="228600"/>
            <a:ext cx="8614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Миссии на Луну</a:t>
            </a:r>
            <a:endParaRPr b="1" lang="en-US" sz="2400" spc="-1" strike="noStrike" i="0">
              <a:latin typeface="Arial Black"/>
            </a:endParaRPr>
          </a:p>
        </p:txBody>
      </p:sp>
      <p:pic>
        <p:nvPicPr>
          <p:cNvPr id="112" name="Picture 1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40" y="987840"/>
            <a:ext cx="3687120" cy="349632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Прямоугольник: скругленные углы 20"/>
          <p:cNvSpPr/>
          <p:nvPr/>
        </p:nvSpPr>
        <p:spPr>
          <a:xfrm>
            <a:off x="47484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14" name="TextBox 10"/>
          <p:cNvSpPr/>
          <p:nvPr/>
        </p:nvSpPr>
        <p:spPr>
          <a:xfrm>
            <a:off x="59292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Геологическая роль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15" name="TextBox 10"/>
          <p:cNvSpPr/>
          <p:nvPr/>
        </p:nvSpPr>
        <p:spPr>
          <a:xfrm>
            <a:off x="59292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Луна влияет на геологические процессы и атмосферу Земли, создавая приливы и стабилизируя наклон оси.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16" name="Прямоугольник: скругленные углы 29"/>
          <p:cNvSpPr/>
          <p:nvPr/>
        </p:nvSpPr>
        <p:spPr>
          <a:xfrm>
            <a:off x="330912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17" name="TextBox 10"/>
          <p:cNvSpPr/>
          <p:nvPr/>
        </p:nvSpPr>
        <p:spPr>
          <a:xfrm>
            <a:off x="342684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Культурное значение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18" name="TextBox 10"/>
          <p:cNvSpPr/>
          <p:nvPr/>
        </p:nvSpPr>
        <p:spPr>
          <a:xfrm>
            <a:off x="342684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Луна занимает важное место в мифах, религиях и искусстве различных народов на протяжении тысяч лет.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19" name="Прямоугольник: скругленные углы 36"/>
          <p:cNvSpPr/>
          <p:nvPr/>
        </p:nvSpPr>
        <p:spPr>
          <a:xfrm>
            <a:off x="6143040" y="84168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20" name="TextBox 10"/>
          <p:cNvSpPr/>
          <p:nvPr/>
        </p:nvSpPr>
        <p:spPr>
          <a:xfrm>
            <a:off x="6260760" y="97380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Научное значение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6260760" y="175752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Исследование Луны помогает понять происхождение Солнечной системы и развитие планет.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22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457200" y="349200"/>
            <a:ext cx="8457480" cy="10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Значение Луны для Земли</a:t>
            </a:r>
            <a:endParaRPr b="1" lang="en-US" sz="2400" spc="-1" strike="noStrike" i="0">
              <a:latin typeface="Arial Black"/>
            </a:endParaRPr>
          </a:p>
        </p:txBody>
      </p:sp>
      <p:pic>
        <p:nvPicPr>
          <p:cNvPr id="124" name="Picture 1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75480"/>
            <a:ext cx="9142920" cy="249444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Прямоугольник: скругленные углы 16"/>
          <p:cNvSpPr/>
          <p:nvPr/>
        </p:nvSpPr>
        <p:spPr>
          <a:xfrm>
            <a:off x="329400" y="250200"/>
            <a:ext cx="4424400" cy="4624560"/>
          </a:xfrm>
          <a:prstGeom prst="roundRect">
            <a:avLst>
              <a:gd name="adj" fmla="val 6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26" name="TextBox 10"/>
          <p:cNvSpPr/>
          <p:nvPr/>
        </p:nvSpPr>
        <p:spPr>
          <a:xfrm>
            <a:off x="581760" y="828720"/>
            <a:ext cx="390132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Планируемые миссии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581760" y="1364400"/>
            <a:ext cx="390132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В 2024-2026 годах планируется возвращение человека на Луну в рамках программы Artemis III.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578160" y="2154600"/>
            <a:ext cx="390132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Лунная база и ресурсы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578160" y="2687040"/>
            <a:ext cx="390132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Возможна постройка постоянных баз для исследований и добычи ресурсов, таких как водяной лед.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578160" y="3482280"/>
            <a:ext cx="390132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Перспективы для космоса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31" name="TextBox 10"/>
          <p:cNvSpPr/>
          <p:nvPr/>
        </p:nvSpPr>
        <p:spPr>
          <a:xfrm>
            <a:off x="578160" y="4015080"/>
            <a:ext cx="390132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Луна станет стартовой площадкой для дальнейших миссий на Марс и другие планеты.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32" name="TextBox 10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8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493200" y="300600"/>
            <a:ext cx="4078080" cy="8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300" b="1" i="0">
                <a:solidFill>
                  <a:srgbClr val="142111"/>
                </a:solidFill>
                <a:latin typeface="Arial Black"/>
              </a:rPr>
              <a:t>Лунные исследования в будущем</a:t>
            </a:r>
            <a:endParaRPr b="1" lang="en-US" sz="2300" spc="-1" strike="noStrike" i="0">
              <a:latin typeface="Arial Black"/>
            </a:endParaRPr>
          </a:p>
        </p:txBody>
      </p:sp>
      <p:pic>
        <p:nvPicPr>
          <p:cNvPr id="134" name="Picture 13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080" y="250200"/>
            <a:ext cx="3819960" cy="46245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3"/>
          <p:cNvSpPr/>
          <p:nvPr/>
        </p:nvSpPr>
        <p:spPr>
          <a:xfrm>
            <a:off x="479160" y="2886480"/>
            <a:ext cx="364680" cy="35928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5" name="Shape 3"/>
          <p:cNvSpPr/>
          <p:nvPr/>
        </p:nvSpPr>
        <p:spPr>
          <a:xfrm>
            <a:off x="3440880" y="2886480"/>
            <a:ext cx="364680" cy="35928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6" name="Shape 3"/>
          <p:cNvSpPr/>
          <p:nvPr/>
        </p:nvSpPr>
        <p:spPr>
          <a:xfrm>
            <a:off x="6402960" y="2886480"/>
            <a:ext cx="364680" cy="35928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137" name="TextBox 11"/>
          <p:cNvSpPr/>
          <p:nvPr/>
        </p:nvSpPr>
        <p:spPr>
          <a:xfrm>
            <a:off x="479160" y="2883600"/>
            <a:ext cx="364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8" name="TextBox 15"/>
          <p:cNvSpPr/>
          <p:nvPr/>
        </p:nvSpPr>
        <p:spPr>
          <a:xfrm>
            <a:off x="3440880" y="2883600"/>
            <a:ext cx="364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9" name="TextBox 19"/>
          <p:cNvSpPr/>
          <p:nvPr/>
        </p:nvSpPr>
        <p:spPr>
          <a:xfrm>
            <a:off x="6402960" y="2883600"/>
            <a:ext cx="364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858960" y="2571840"/>
            <a:ext cx="23544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Луна в литературе и кино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858960" y="3356280"/>
            <a:ext cx="235440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Луна вдохновляла писателей и режиссеров — от мифов до научной фантастики, таких как фильмы о космосе.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3821040" y="2571840"/>
            <a:ext cx="23544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Образы в искусстве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3821040" y="3356280"/>
            <a:ext cx="235440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Луна изображается в живописи, музыке и скульптуре как символ тайны и вечности.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6782760" y="2571840"/>
            <a:ext cx="229356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400" b="0" i="0">
                <a:solidFill>
                  <a:srgbClr val="142111"/>
                </a:solidFill>
                <a:latin typeface="Arial"/>
              </a:rPr>
              <a:t>Современное восприятие</a:t>
            </a:r>
            <a:endParaRPr b="0" lang="en-US" sz="1400" spc="-1" strike="noStrike" i="0">
              <a:latin typeface="Arial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6782760" y="3356280"/>
            <a:ext cx="2293560" cy="156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1100" b="0" i="0">
                <a:solidFill>
                  <a:srgbClr val="3E443E"/>
                </a:solidFill>
                <a:latin typeface="Arial"/>
              </a:rPr>
              <a:t>Луна остается популярным объектом для фотосъемки, дизайна и культурных мероприятий по всему миру.</a:t>
            </a:r>
            <a:endParaRPr b="0" lang="en-US" sz="1100" spc="-1" strike="noStrike" i="0">
              <a:latin typeface="Arial"/>
            </a:endParaRPr>
          </a:p>
        </p:txBody>
      </p:sp>
      <p:sp>
        <p:nvSpPr>
          <p:cNvPr id="147" name="TextBox 20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228600" y="2057400"/>
            <a:ext cx="8686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wrap="square">
            <a:noAutofit/>
          </a:bodyPr>
          <a:p>
            <a:pPr>
              <a:lnSpc>
                <a:spcPct val="100000"/>
              </a:lnSpc>
              <a:buNone/>
            </a:pPr>
            <a:r>
              <a:rPr sz="2400" b="1" i="0">
                <a:solidFill>
                  <a:srgbClr val="142111"/>
                </a:solidFill>
                <a:latin typeface="Arial Black"/>
              </a:rPr>
              <a:t>Луна в культуре и искусстве</a:t>
            </a:r>
            <a:endParaRPr b="1" lang="en-US" sz="2400" spc="-1" strike="noStrike" i="0">
              <a:latin typeface="Arial Black"/>
            </a:endParaRPr>
          </a:p>
        </p:txBody>
      </p:sp>
      <p:pic>
        <p:nvPicPr>
          <p:cNvPr id="149" name="Picture 14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78800"/>
            <a:ext cx="9142920" cy="232740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p/>
        </p:txBody>
      </p:sp>
      <p:sp>
        <p:nvSpPr>
          <p:cNvPr id="150" name="Прямоугольник 5"/>
          <p:cNvSpPr/>
          <p:nvPr/>
        </p:nvSpPr>
        <p:spPr>
          <a:xfrm>
            <a:off x="1640880" y="4489920"/>
            <a:ext cx="299844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  <a:ea typeface="DejaVu Sans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  <a:ea typeface="DejaVu Sans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1" name="Изображение 40"/>
          <p:cNvSpPr/>
          <p:nvPr/>
        </p:nvSpPr>
        <p:spPr>
          <a:xfrm>
            <a:off x="867240" y="3488040"/>
            <a:ext cx="256320" cy="2563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pic>
        <p:nvPicPr>
          <p:cNvPr id="152" name="Рисунок 10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1440"/>
            <a:ext cx="1288800" cy="1132920"/>
          </a:xfrm>
          <a:prstGeom prst="rect">
            <a:avLst/>
          </a:prstGeom>
          <a:ln w="0">
            <a:noFill/>
          </a:ln>
        </p:spPr>
      </p:pic>
      <p:sp>
        <p:nvSpPr>
          <p:cNvPr id="153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wrap="square">
            <a:noAutofit/>
          </a:bodyPr>
          <a:p>
            <a:pPr>
              <a:lnSpc>
                <a:spcPts val="6999"/>
              </a:lnSpc>
              <a:buNone/>
            </a:pPr>
            <a:r>
              <a:rPr sz="6600" b="1" i="0">
                <a:solidFill>
                  <a:srgbClr val="FFFA00"/>
                </a:solidFill>
                <a:latin typeface="Arial Black"/>
              </a:rPr>
              <a:t>Спасибо за внимание!</a:t>
            </a:r>
            <a:endParaRPr b="1" lang="en-US" sz="6600" spc="-1" strike="noStrike" i="0">
              <a:latin typeface="Arial Black"/>
            </a:endParaRPr>
          </a:p>
        </p:txBody>
      </p:sp>
      <p:pic>
        <p:nvPicPr>
          <p:cNvPr id="154" name="Рисунок 11" descr=""/>
          <p:cNvPicPr/>
          <p:nvPr/>
        </p:nvPicPr>
        <p:blipFill>
          <a:blip r:embed="rId3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2304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2025-09-17T11:46:22Z</dcterms:modified>
  <cp:revision>58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