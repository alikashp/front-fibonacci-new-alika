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CA9E830-36AB-41B6-8BCE-41C2A5B1ED0E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6EC39D0-99C5-43D3-BB47-2D1178CF3F86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08E06C-C341-4385-B1E5-64174C3AC7D1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3F61DC9-2889-46FF-B153-0BDC981735D9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0DD296-44C5-42F7-94C9-8492996FFA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4995B3-D3CA-41B4-81A2-2BC4FDEB56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5BA4F9C-C2C8-4CE7-AAAF-392E4CE5EF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FAA850-D07A-40F2-BC8D-85841FB536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F607FF-25AF-4708-83C6-D8BD774A20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FCB71A-B48F-4305-8A69-637865C742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7E18B1-DFFA-4C24-97E6-B0635A7AC9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B46C95-30C0-475C-9178-1E629C7EA3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B345AA-B326-4C2A-8F1A-F927C04A36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1ED507-EFFF-4B57-BF4F-BC71C0229F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DBBB3D-BB79-4CD9-B57C-676BC653D60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403EA3-E3B8-41F9-8533-F2A72C897C3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2E32EB-3FCE-45A3-85F8-702BCF0C0863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>
              <a:lnSpc>
                <a:spcPts val="6999"/>
              </a:lnSpc>
              <a:buNone/>
            </a:pPr>
            <a:r>
              <a:rPr sz="5400" b="0" i="0">
                <a:solidFill>
                  <a:srgbClr val="FFFFFF"/>
                </a:solidFill>
                <a:latin typeface="Arial"/>
              </a:rPr>
              <a:t>Здоровый образ жизни</a:t>
            </a:r>
            <a:endParaRPr b="0" lang="en-US" sz="5400" spc="-1" strike="noStrike" i="0">
              <a:latin typeface="Arial"/>
            </a:endParaRPr>
          </a:p>
        </p:txBody>
      </p:sp>
      <p:sp>
        <p:nvSpPr>
          <p:cNvPr id="49" name="Прямоугольник 5"/>
          <p:cNvSpPr/>
          <p:nvPr/>
        </p:nvSpPr>
        <p:spPr>
          <a:xfrm>
            <a:off x="460080" y="459576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50" name="Рисунок 11" descr=""/>
          <p:cNvPicPr/>
          <p:nvPr/>
        </p:nvPicPr>
        <p:blipFill>
          <a:blip r:embed="rId1"/>
          <a:stretch/>
        </p:blipFill>
        <p:spPr>
          <a:xfrm>
            <a:off x="2423160" y="4596480"/>
            <a:ext cx="290880" cy="29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Прямоугольник со скругленными углами 3"/>
          <p:cNvSpPr/>
          <p:nvPr/>
        </p:nvSpPr>
        <p:spPr>
          <a:xfrm>
            <a:off x="3507480" y="0"/>
            <a:ext cx="5635800" cy="514296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Прямоугольник: скругленные углы 2"/>
          <p:cNvSpPr/>
          <p:nvPr/>
        </p:nvSpPr>
        <p:spPr>
          <a:xfrm>
            <a:off x="3722040" y="257040"/>
            <a:ext cx="5185800" cy="464976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53" name="Овал 1"/>
          <p:cNvSpPr/>
          <p:nvPr/>
        </p:nvSpPr>
        <p:spPr>
          <a:xfrm>
            <a:off x="4122000" y="631080"/>
            <a:ext cx="899280" cy="8992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4122000" y="2127600"/>
            <a:ext cx="899280" cy="8874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4122000" y="3612240"/>
            <a:ext cx="899280" cy="8992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10920" y="4896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Правильное питание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10920" y="1025280"/>
            <a:ext cx="357876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В 2022 году Всемирная организация здравоохранения подчеркнула важность сбалансированного питания для профилактики заболеваний.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19854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Регулярная физическая активность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2517840"/>
            <a:ext cx="357876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По данным ВОЗ, минимум 150 минут умеренной физической нагрузки в неделю способствует улучшению здоровья.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5107320" y="347076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Психологическое здоровье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5107320" y="4003560"/>
            <a:ext cx="357876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Согласно исследованиям 2025 года, правильный отдых и управление стрессом помогают повысить качество жизни.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2" name="TextBox 13"/>
          <p:cNvSpPr/>
          <p:nvPr/>
        </p:nvSpPr>
        <p:spPr>
          <a:xfrm>
            <a:off x="165960" y="200880"/>
            <a:ext cx="3147840" cy="18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100" b="0" i="0">
                <a:solidFill>
                  <a:srgbClr val="FFFFFF"/>
                </a:solidFill>
                <a:latin typeface="Arial"/>
              </a:rPr>
              <a:t>Здоровый образ жизни: основы и значение</a:t>
            </a:r>
            <a:endParaRPr b="0" lang="en-US" sz="2100" spc="-1" strike="noStrike" i="0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0"/>
          <p:cNvSpPr/>
          <p:nvPr/>
        </p:nvSpPr>
        <p:spPr>
          <a:xfrm>
            <a:off x="38484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Основные продукты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8484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В 2023 году ученые выделили овощи, фрукты и цельнозерновые как ключевые продукты для здоровья.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323928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Избегание вредных веществ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323928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В 2024 году было подтверждено, что уменьшение потребления сахара и соли снижает риск сердечно-сосудистых заболеваний.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609372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Режим питания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609372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Исследования 2025 года показывают, что регулярное питание помогает контролировать вес и уровень энергии.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384840" y="217800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200" b="0" i="0">
                <a:solidFill>
                  <a:srgbClr val="FFFFFF"/>
                </a:solidFill>
                <a:latin typeface="Arial"/>
              </a:rPr>
              <a:t>Питание и его роль в здоровье</a:t>
            </a:r>
            <a:endParaRPr b="0" lang="en-US" sz="2200" spc="-1" strike="noStrike" i="0">
              <a:latin typeface="Arial"/>
            </a:endParaRPr>
          </a:p>
        </p:txBody>
      </p:sp>
      <p:pic>
        <p:nvPicPr>
          <p:cNvPr id="71" name="Picture 70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3280" cy="196128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Прямоугольник: скругленные углы 16"/>
          <p:cNvSpPr/>
          <p:nvPr/>
        </p:nvSpPr>
        <p:spPr>
          <a:xfrm>
            <a:off x="329400" y="257040"/>
            <a:ext cx="4197960" cy="46249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73" name="Овал 9"/>
          <p:cNvSpPr/>
          <p:nvPr/>
        </p:nvSpPr>
        <p:spPr>
          <a:xfrm>
            <a:off x="4272120" y="1193040"/>
            <a:ext cx="635040" cy="635040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74" name="TextBox 10"/>
          <p:cNvSpPr/>
          <p:nvPr/>
        </p:nvSpPr>
        <p:spPr>
          <a:xfrm>
            <a:off x="581760" y="82872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Виды тренировок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581760" y="1364400"/>
            <a:ext cx="369324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В 2022 году популярностью пользовались кардио и силовые тренировки для укрепления сердца и мышц.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78160" y="215460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Преимущества спорта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578160" y="2687040"/>
            <a:ext cx="369324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Исследования 2024 года показывают, что регулярные занятия спортом улучшают настроение и сон.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578160" y="348228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Советы по режиму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578160" y="4015080"/>
            <a:ext cx="369324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К 2025 году специалисты рекомендуют заниматься минимум 3 раза в неделю по 30 минут.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80" name="TextBox 30"/>
          <p:cNvSpPr/>
          <p:nvPr/>
        </p:nvSpPr>
        <p:spPr>
          <a:xfrm>
            <a:off x="553680" y="352440"/>
            <a:ext cx="380340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200" b="0" i="0">
                <a:solidFill>
                  <a:srgbClr val="FFFFFF"/>
                </a:solidFill>
                <a:latin typeface="Arial"/>
              </a:rPr>
              <a:t>Физическая активность и спорт</a:t>
            </a:r>
            <a:endParaRPr b="0" lang="en-US" sz="2200" spc="-1" strike="noStrike" i="0">
              <a:latin typeface="Arial"/>
            </a:endParaRPr>
          </a:p>
        </p:txBody>
      </p:sp>
      <p:pic>
        <p:nvPicPr>
          <p:cNvPr id="81" name="Picture 8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440" y="250200"/>
            <a:ext cx="4197960" cy="462492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20"/>
          <p:cNvSpPr/>
          <p:nvPr/>
        </p:nvSpPr>
        <p:spPr>
          <a:xfrm>
            <a:off x="516960" y="41184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000" b="0" i="0">
                <a:solidFill>
                  <a:srgbClr val="FFFFFF"/>
                </a:solidFill>
                <a:latin typeface="Arial"/>
              </a:rPr>
              <a:t>Психологическое здоровье и стресс-менеджмент</a:t>
            </a:r>
            <a:endParaRPr b="0" lang="en-US" sz="2000" spc="-1" strike="noStrike" i="0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8484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Техники релаксации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8484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В 2023 году популярными стали медитация и дыхательные практики для снижения стресса.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85" name="Прямоугольник: скругленные углы 1"/>
          <p:cNvSpPr/>
          <p:nvPr/>
        </p:nvSpPr>
        <p:spPr>
          <a:xfrm>
            <a:off x="328680" y="228600"/>
            <a:ext cx="8501040" cy="8136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86" name="Прямоугольник: скругленные углы 10"/>
          <p:cNvSpPr/>
          <p:nvPr/>
        </p:nvSpPr>
        <p:spPr>
          <a:xfrm>
            <a:off x="328680" y="127908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88" name="TextBox 10"/>
          <p:cNvSpPr/>
          <p:nvPr/>
        </p:nvSpPr>
        <p:spPr>
          <a:xfrm>
            <a:off x="334944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Значение сна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334944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Исследования 2024 года подтвердили, что полноценный сон улучшает память и иммунитет.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90" name="Прямоугольник: скругленные углы 14"/>
          <p:cNvSpPr/>
          <p:nvPr/>
        </p:nvSpPr>
        <p:spPr>
          <a:xfrm>
            <a:off x="3293280" y="127188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92" name="TextBox 10"/>
          <p:cNvSpPr/>
          <p:nvPr/>
        </p:nvSpPr>
        <p:spPr>
          <a:xfrm>
            <a:off x="632952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Социальные связи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632952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К 2025 году было установлено, что активное общение способствует психологическому благополучию.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94" name="Прямоугольник: скругленные углы 19"/>
          <p:cNvSpPr/>
          <p:nvPr/>
        </p:nvSpPr>
        <p:spPr>
          <a:xfrm>
            <a:off x="6273000" y="125280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pic>
        <p:nvPicPr>
          <p:cNvPr id="95" name="Picture 9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80" y="1406160"/>
            <a:ext cx="2300400" cy="1439640"/>
          </a:xfrm>
          <a:prstGeom prst="rect">
            <a:avLst/>
          </a:prstGeom>
        </p:spPr>
      </p:pic>
      <p:pic>
        <p:nvPicPr>
          <p:cNvPr id="96" name="Picture 9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080" y="1398960"/>
            <a:ext cx="2300400" cy="1439640"/>
          </a:xfrm>
          <a:prstGeom prst="rect">
            <a:avLst/>
          </a:prstGeom>
        </p:spPr>
      </p:pic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379520"/>
            <a:ext cx="2300400" cy="143964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0"/>
          <p:cNvSpPr/>
          <p:nvPr/>
        </p:nvSpPr>
        <p:spPr>
          <a:xfrm>
            <a:off x="4192560" y="3830040"/>
            <a:ext cx="4672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Признаки обезвоживания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4192560" y="4188600"/>
            <a:ext cx="46720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Исследования 2024 года показывают, что усталость и сухость во рту — сигналы недостатка воды.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98" name="Овал 9"/>
          <p:cNvSpPr/>
          <p:nvPr/>
        </p:nvSpPr>
        <p:spPr>
          <a:xfrm>
            <a:off x="3724560" y="3830040"/>
            <a:ext cx="402840" cy="4028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4192560" y="2571840"/>
            <a:ext cx="4672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Польза водных процедур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4192560" y="2930400"/>
            <a:ext cx="46720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В 2023 году было доказано, что правильная гидратация улучшает работу мозга и обмен веществ.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01" name="Овал 13"/>
          <p:cNvSpPr/>
          <p:nvPr/>
        </p:nvSpPr>
        <p:spPr>
          <a:xfrm>
            <a:off x="3724560" y="2571840"/>
            <a:ext cx="402840" cy="4028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4192560" y="1311840"/>
            <a:ext cx="4672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Рекомендуемый объем воды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4192560" y="1670760"/>
            <a:ext cx="46720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В 2022 году эксперты советовали пить не менее 1,5 литров воды в день для поддержания здоровья.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04" name="Овал 16"/>
          <p:cNvSpPr/>
          <p:nvPr/>
        </p:nvSpPr>
        <p:spPr>
          <a:xfrm>
            <a:off x="3724560" y="1311840"/>
            <a:ext cx="402840" cy="4028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5" name="TextBox 17"/>
          <p:cNvSpPr/>
          <p:nvPr/>
        </p:nvSpPr>
        <p:spPr>
          <a:xfrm>
            <a:off x="3607560" y="215280"/>
            <a:ext cx="537480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200" b="0" i="0">
                <a:solidFill>
                  <a:srgbClr val="FFFFFF"/>
                </a:solidFill>
                <a:latin typeface="Arial"/>
              </a:rPr>
              <a:t>Значение воды и гидратации</a:t>
            </a:r>
            <a:endParaRPr b="0" lang="en-US" sz="2200" spc="-1" strike="noStrike" i="0">
              <a:latin typeface="Arial"/>
            </a:endParaRPr>
          </a:p>
        </p:txBody>
      </p:sp>
      <p:pic>
        <p:nvPicPr>
          <p:cNvPr id="106" name="Picture 10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96600" cy="51429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Прямоугольник: скругленные углы 22"/>
          <p:cNvSpPr/>
          <p:nvPr/>
        </p:nvSpPr>
        <p:spPr>
          <a:xfrm>
            <a:off x="3417120" y="1051560"/>
            <a:ext cx="5047560" cy="841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07" name="Прямоугольник: скругленные углы 28"/>
          <p:cNvSpPr/>
          <p:nvPr/>
        </p:nvSpPr>
        <p:spPr>
          <a:xfrm>
            <a:off x="3417120" y="2451960"/>
            <a:ext cx="5047560" cy="841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08" name="Прямоугольник: скругленные углы 32"/>
          <p:cNvSpPr/>
          <p:nvPr/>
        </p:nvSpPr>
        <p:spPr>
          <a:xfrm>
            <a:off x="3417120" y="3849840"/>
            <a:ext cx="5047560" cy="841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09" name="TextBox 10"/>
          <p:cNvSpPr/>
          <p:nvPr/>
        </p:nvSpPr>
        <p:spPr>
          <a:xfrm>
            <a:off x="3821760" y="1115280"/>
            <a:ext cx="44834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В 2025 году было подтверждено, что отказ от курения и чрезмерного употребления алкоголя значительно повышает качество жизни.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10" name="Прямая соединительная линия 4"/>
          <p:cNvSpPr/>
          <p:nvPr/>
        </p:nvSpPr>
        <p:spPr>
          <a:xfrm>
            <a:off x="782280" y="987120"/>
            <a:ext cx="360" cy="3813480"/>
          </a:xfrm>
          <a:prstGeom prst="line">
            <a:avLst/>
          </a:prstGeom>
          <a:ln>
            <a:solidFill>
              <a:srgbClr val="c0c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11" name="Прямоугольник: скругленные углы 19"/>
          <p:cNvSpPr/>
          <p:nvPr/>
        </p:nvSpPr>
        <p:spPr>
          <a:xfrm>
            <a:off x="1135800" y="1033200"/>
            <a:ext cx="2642400" cy="88056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12" name="TextBox 10"/>
          <p:cNvSpPr/>
          <p:nvPr/>
        </p:nvSpPr>
        <p:spPr>
          <a:xfrm>
            <a:off x="1164600" y="1033200"/>
            <a:ext cx="25459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Курение и алкоголь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3821760" y="2515680"/>
            <a:ext cx="44834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Группы поддержки и программы в 2023 году помогли тысячам людей избавиться от вредных привычек.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14" name="Прямоугольник: скругленные углы 26"/>
          <p:cNvSpPr/>
          <p:nvPr/>
        </p:nvSpPr>
        <p:spPr>
          <a:xfrm>
            <a:off x="1135800" y="2433600"/>
            <a:ext cx="2642400" cy="88056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15" name="TextBox 10"/>
          <p:cNvSpPr/>
          <p:nvPr/>
        </p:nvSpPr>
        <p:spPr>
          <a:xfrm>
            <a:off x="1164600" y="2433600"/>
            <a:ext cx="25459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Поддержка и мотивация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821760" y="3913560"/>
            <a:ext cx="44834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Эксперты рекомендуют постепенный отказ и консультации с врачами для успешного прекращения.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17" name="Прямоугольник: скругленные углы 30"/>
          <p:cNvSpPr/>
          <p:nvPr/>
        </p:nvSpPr>
        <p:spPr>
          <a:xfrm>
            <a:off x="1135800" y="3831480"/>
            <a:ext cx="2642400" cy="88056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18" name="TextBox 10"/>
          <p:cNvSpPr/>
          <p:nvPr/>
        </p:nvSpPr>
        <p:spPr>
          <a:xfrm>
            <a:off x="1164600" y="3831480"/>
            <a:ext cx="25459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План действий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19" name="Овал 5"/>
          <p:cNvSpPr/>
          <p:nvPr/>
        </p:nvSpPr>
        <p:spPr>
          <a:xfrm>
            <a:off x="675360" y="1365840"/>
            <a:ext cx="220680" cy="2206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20" name="Овал 33"/>
          <p:cNvSpPr/>
          <p:nvPr/>
        </p:nvSpPr>
        <p:spPr>
          <a:xfrm>
            <a:off x="675360" y="2728080"/>
            <a:ext cx="220680" cy="2206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21" name="Овал 34"/>
          <p:cNvSpPr/>
          <p:nvPr/>
        </p:nvSpPr>
        <p:spPr>
          <a:xfrm>
            <a:off x="671760" y="4156200"/>
            <a:ext cx="220680" cy="2206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22" name="TextBox 20"/>
          <p:cNvSpPr/>
          <p:nvPr/>
        </p:nvSpPr>
        <p:spPr>
          <a:xfrm>
            <a:off x="381600" y="27108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200" b="0" i="0">
                <a:solidFill>
                  <a:srgbClr val="FFFFFF"/>
                </a:solidFill>
                <a:latin typeface="Arial"/>
              </a:rPr>
              <a:t>Борьба с вредными привычками</a:t>
            </a:r>
            <a:endParaRPr b="0" lang="en-US" sz="2200" spc="-1" strike="noStrike" i="0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0"/>
          <p:cNvSpPr/>
          <p:nvPr/>
        </p:nvSpPr>
        <p:spPr>
          <a:xfrm>
            <a:off x="384840" y="801360"/>
            <a:ext cx="24433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Фитнес-группы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384840" y="1585800"/>
            <a:ext cx="24433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В 2024 году популярными стали совместные тренировки, повышающие мотивацию и дух команды.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3269880" y="801360"/>
            <a:ext cx="24433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Обучающие мероприятия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3269880" y="1585800"/>
            <a:ext cx="24433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Мастер-классы по здоровому питанию и йоге проводились в 2025 году во многих городах страны.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6154560" y="80136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Онлайн-сообщества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6154560" y="158580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Виртуальные группы помогают обмениваться опытом и поддерживать друг друга на пути к здоровью.</a:t>
            </a:r>
            <a:endParaRPr b="0" lang="en-US" sz="1100" spc="-1" strike="noStrike" i="0">
              <a:latin typeface="Arial"/>
            </a:endParaRPr>
          </a:p>
        </p:txBody>
      </p:sp>
      <p:grpSp>
        <p:nvGrpSpPr>
          <p:cNvPr id="130" name="Группа 8"/>
          <p:cNvGrpSpPr/>
          <p:nvPr/>
        </p:nvGrpSpPr>
        <p:grpSpPr>
          <a:xfrm>
            <a:off x="2844000" y="1015560"/>
            <a:ext cx="299880" cy="1141200"/>
            <a:chOff x="2844000" y="1015560"/>
            <a:chExt cx="299880" cy="1141200"/>
          </a:xfrm>
        </p:grpSpPr>
        <p:sp>
          <p:nvSpPr>
            <p:cNvPr id="131" name="Прямая соединительная линия 7"/>
            <p:cNvSpPr/>
            <p:nvPr/>
          </p:nvSpPr>
          <p:spPr>
            <a:xfrm>
              <a:off x="2844000" y="101556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2" name="Прямая соединительная линия 22"/>
            <p:cNvSpPr/>
            <p:nvPr/>
          </p:nvSpPr>
          <p:spPr>
            <a:xfrm flipV="1">
              <a:off x="2844000" y="158508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3" name="Группа 23"/>
          <p:cNvGrpSpPr/>
          <p:nvPr/>
        </p:nvGrpSpPr>
        <p:grpSpPr>
          <a:xfrm>
            <a:off x="5744520" y="1015560"/>
            <a:ext cx="300240" cy="1141200"/>
            <a:chOff x="5744520" y="1015560"/>
            <a:chExt cx="300240" cy="1141200"/>
          </a:xfrm>
        </p:grpSpPr>
        <p:sp>
          <p:nvSpPr>
            <p:cNvPr id="134" name="Прямая соединительная линия 30"/>
            <p:cNvSpPr/>
            <p:nvPr/>
          </p:nvSpPr>
          <p:spPr>
            <a:xfrm>
              <a:off x="5744520" y="101556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5" name="Прямая соединительная линия 31"/>
            <p:cNvSpPr/>
            <p:nvPr/>
          </p:nvSpPr>
          <p:spPr>
            <a:xfrm flipV="1">
              <a:off x="5744520" y="158508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6" name=""/>
          <p:cNvSpPr/>
          <p:nvPr/>
        </p:nvSpPr>
        <p:spPr>
          <a:xfrm>
            <a:off x="349200" y="264600"/>
            <a:ext cx="82292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100" b="0" i="0">
                <a:solidFill>
                  <a:srgbClr val="FFFFFF"/>
                </a:solidFill>
                <a:latin typeface="Arial"/>
              </a:rPr>
              <a:t>Групповые активности и сообщество</a:t>
            </a:r>
            <a:endParaRPr b="0" lang="en-US" sz="2100" spc="-1" strike="noStrike" i="0">
              <a:latin typeface="Arial"/>
            </a:endParaRPr>
          </a:p>
        </p:txBody>
      </p:sp>
      <p:pic>
        <p:nvPicPr>
          <p:cNvPr id="137" name="Picture 13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1680"/>
            <a:ext cx="9143280" cy="196128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Прямоугольник: скругленные углы 12"/>
          <p:cNvSpPr/>
          <p:nvPr/>
        </p:nvSpPr>
        <p:spPr>
          <a:xfrm>
            <a:off x="384840" y="3378240"/>
            <a:ext cx="5236200" cy="132084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39" name="Прямоугольник: скругленные углы 13"/>
          <p:cNvSpPr/>
          <p:nvPr/>
        </p:nvSpPr>
        <p:spPr>
          <a:xfrm>
            <a:off x="3091680" y="1135080"/>
            <a:ext cx="2532960" cy="205668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40" name="Прямоугольник: скругленные углы 14"/>
          <p:cNvSpPr/>
          <p:nvPr/>
        </p:nvSpPr>
        <p:spPr>
          <a:xfrm>
            <a:off x="387720" y="1120680"/>
            <a:ext cx="2532960" cy="205668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41" name="TextBox 10"/>
          <p:cNvSpPr/>
          <p:nvPr/>
        </p:nvSpPr>
        <p:spPr>
          <a:xfrm>
            <a:off x="476280" y="1176840"/>
            <a:ext cx="23432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Медицинские осмотры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476280" y="1961280"/>
            <a:ext cx="234324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В 2023 году рекомендовано проходить профилактические осмотры не реже одного раза в год.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3179880" y="1176840"/>
            <a:ext cx="234000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Использование гаджетов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3179880" y="1961280"/>
            <a:ext cx="23400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В 2024 году популярными стали фитнес-трекеры для мониторинга физической активности и состояния организма.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476280" y="3479760"/>
            <a:ext cx="5236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Цели и мотивация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46" name="TextBox 10"/>
          <p:cNvSpPr/>
          <p:nvPr/>
        </p:nvSpPr>
        <p:spPr>
          <a:xfrm>
            <a:off x="476280" y="3831480"/>
            <a:ext cx="51465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Эксперты советуют ставить конкретные цели и вести дневник здоровья для достижения успеха.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47" name="TextBox 20"/>
          <p:cNvSpPr/>
          <p:nvPr/>
        </p:nvSpPr>
        <p:spPr>
          <a:xfrm>
            <a:off x="338760" y="160560"/>
            <a:ext cx="5282280" cy="9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100" b="0" i="0">
                <a:solidFill>
                  <a:srgbClr val="FFFFFF"/>
                </a:solidFill>
                <a:latin typeface="Arial"/>
              </a:rPr>
              <a:t>Планирование и контроль за здоровьем</a:t>
            </a:r>
            <a:endParaRPr b="0" lang="en-US" sz="2100" spc="-1" strike="noStrike" i="0">
              <a:latin typeface="Arial"/>
            </a:endParaRPr>
          </a:p>
        </p:txBody>
      </p:sp>
      <p:pic>
        <p:nvPicPr>
          <p:cNvPr id="148" name="Picture 14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200" y="0"/>
            <a:ext cx="3259080" cy="51429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Прямоугольник со скругленными углами 3"/>
          <p:cNvSpPr/>
          <p:nvPr/>
        </p:nvSpPr>
        <p:spPr>
          <a:xfrm>
            <a:off x="186840" y="1854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49" name="Прямоугольник 10"/>
          <p:cNvSpPr/>
          <p:nvPr/>
        </p:nvSpPr>
        <p:spPr>
          <a:xfrm>
            <a:off x="460080" y="658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>
              <a:lnSpc>
                <a:spcPts val="6999"/>
              </a:lnSpc>
              <a:buNone/>
            </a:pPr>
            <a:r>
              <a:rPr sz="5400" b="0" i="0">
                <a:solidFill>
                  <a:srgbClr val="FFFFFF"/>
                </a:solidFill>
                <a:latin typeface="Arial"/>
              </a:rPr>
              <a:t>Спасибо за внимание!</a:t>
            </a:r>
            <a:endParaRPr b="0" lang="en-US" sz="5400" spc="-1" strike="noStrike" i="0">
              <a:latin typeface="Arial"/>
            </a:endParaRPr>
          </a:p>
        </p:txBody>
      </p:sp>
      <p:sp>
        <p:nvSpPr>
          <p:cNvPr id="150" name="Прямоугольник 5"/>
          <p:cNvSpPr/>
          <p:nvPr/>
        </p:nvSpPr>
        <p:spPr>
          <a:xfrm>
            <a:off x="1640880" y="449748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1" name="Изображение 40"/>
          <p:cNvSpPr/>
          <p:nvPr/>
        </p:nvSpPr>
        <p:spPr>
          <a:xfrm>
            <a:off x="867240" y="3495600"/>
            <a:ext cx="256680" cy="2566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pic>
        <p:nvPicPr>
          <p:cNvPr id="152" name="Рисунок 12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9000"/>
            <a:ext cx="1289160" cy="113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2514</TotalTime>
  <Application>LibreOffice/7.3.7.2$Linux_X86_64 LibreOffice_project/30$Build-2</Application>
  <AppVersion>15.0000</AppVersion>
  <Words>120</Words>
  <Paragraphs>79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2025-03-31T10:58:49Z</dcterms:modified>
  <cp:revision>50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Экран (16:9)</vt:lpwstr>
  </property>
  <property fmtid="{D5CDD505-2E9C-101B-9397-08002B2CF9AE}" pid="4" name="Slides">
    <vt:i4>10</vt:i4>
  </property>
</Properties>
</file>